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346" r:id="rId7"/>
    <p:sldId id="338" r:id="rId8"/>
    <p:sldId id="339" r:id="rId9"/>
    <p:sldId id="344" r:id="rId10"/>
    <p:sldId id="347" r:id="rId11"/>
    <p:sldId id="345" r:id="rId12"/>
    <p:sldId id="34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1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3725" autoAdjust="0"/>
  </p:normalViewPr>
  <p:slideViewPr>
    <p:cSldViewPr snapToGrid="0">
      <p:cViewPr>
        <p:scale>
          <a:sx n="69" d="100"/>
          <a:sy n="69" d="100"/>
        </p:scale>
        <p:origin x="28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47A63F-9D06-479D-A04D-717692D432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1F70DC-6EDE-457C-B55A-39AC7DE41A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C06C4-C5A6-48FB-97F5-B20A44F857E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6987CF-42F5-4BB0-AD0D-1D64C359446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368FB4-296C-4F8C-BFA3-D7C3AD617B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55657-0A12-495F-9FFA-D8F7554E7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322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B2CC-0155-4E5E-A890-531D58ADF5B2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80FBB-F712-42E7-8C2F-226D98798B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5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FB0C32-F044-4939-92E4-8BA39B7A39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84BE8A-3E34-4967-9E7C-13EC8F6A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-663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FF676-EC35-4FFD-8894-CA4F28307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50" y="0"/>
            <a:ext cx="12188952" cy="6858000"/>
          </a:xfrm>
          <a:prstGeom prst="rect">
            <a:avLst/>
          </a:prstGeom>
          <a:solidFill>
            <a:schemeClr val="bg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2DA1557-E095-4C82-B659-3AF550080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2746250" y="-663"/>
            <a:ext cx="6857999" cy="6857998"/>
          </a:xfrm>
          <a:prstGeom prst="ellipse">
            <a:avLst/>
          </a:prstGeom>
          <a:gradFill>
            <a:gsLst>
              <a:gs pos="0">
                <a:schemeClr val="accent1">
                  <a:lumMod val="20000"/>
                  <a:lumOff val="80000"/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F34E5EF-94D7-4AE0-BDD1-81A3ECDE6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77040" y="1193411"/>
            <a:ext cx="5589934" cy="5737916"/>
          </a:xfrm>
          <a:prstGeom prst="ellipse">
            <a:avLst/>
          </a:prstGeom>
          <a:gradFill>
            <a:gsLst>
              <a:gs pos="0">
                <a:schemeClr val="accent1">
                  <a:alpha val="40000"/>
                </a:schemeClr>
              </a:gs>
              <a:gs pos="100000">
                <a:schemeClr val="accent5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952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829E57E-3199-4AAA-B2D5-F93264FDA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6442672" y="193606"/>
            <a:ext cx="5760743" cy="5737917"/>
          </a:xfrm>
          <a:prstGeom prst="ellipse">
            <a:avLst/>
          </a:prstGeom>
          <a:gradFill>
            <a:gsLst>
              <a:gs pos="0">
                <a:schemeClr val="accent1">
                  <a:alpha val="20000"/>
                </a:schemeClr>
              </a:gs>
              <a:gs pos="100000">
                <a:schemeClr val="accent5">
                  <a:alpha val="40000"/>
                </a:schemeClr>
              </a:gs>
            </a:gsLst>
            <a:lin ang="2700000" scaled="1"/>
          </a:gradFill>
          <a:ln>
            <a:noFill/>
          </a:ln>
          <a:effectLst>
            <a:softEdge rad="10033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Tag=CustomerPhoto&#10;Crop=1&#10;Align=N/A">
            <a:extLst>
              <a:ext uri="{FF2B5EF4-FFF2-40B4-BE49-F238E27FC236}">
                <a16:creationId xmlns:a16="http://schemas.microsoft.com/office/drawing/2014/main" id="{8A791822-0971-4E61-A5E4-9AAD258F58E3}"/>
              </a:ext>
            </a:extLst>
          </p:cNvPr>
          <p:cNvPicPr>
            <a:picLocks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" y="-663"/>
            <a:ext cx="12188952" cy="685800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B86D7D99-F789-4EDA-861D-B6B994F05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2B39487B-EA73-4D7B-93AA-D63B49F4DA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050" y="3600450"/>
            <a:ext cx="9144000" cy="24511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effectLst/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55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3F98AFCE-98D2-46C5-82A8-E45659B17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F69999FB-8585-40F0-990C-6A0BAD1C80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68738E-7449-46C1-B7D3-844FE2BA7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0FF04F9-E792-4C19-9FD5-44800CEB2E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6085" y="914400"/>
            <a:ext cx="4377714" cy="2827422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F2F9DF6-DFB9-44A8-B629-57F58893AD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53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927BC207-43FE-4B6A-AEBE-875B69CF9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91840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EBBF5499-9A70-4846-B98E-316EC17F9F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9048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7A79F30-D473-48F6-9AC2-286C7B70F3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06256" y="4059936"/>
            <a:ext cx="2807208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914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B910AFBC-7932-43F4-ABEA-C89B26986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857251"/>
            <a:ext cx="5914937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178A42D-5ED2-4AB6-BE4B-410907432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190875"/>
            <a:ext cx="5914938" cy="29860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0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9" name="Date Placeholder 1">
            <a:extLst>
              <a:ext uri="{FF2B5EF4-FFF2-40B4-BE49-F238E27FC236}">
                <a16:creationId xmlns:a16="http://schemas.microsoft.com/office/drawing/2014/main" id="{4D9A7D07-2BA3-438D-972B-EA57837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>
            <a:lvl1pPr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3/1/20XX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8720583-BC84-48EB-85BC-AE71214A30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520" y="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C3F0A5CD-C47A-4CDF-BE99-75F3A81B18F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89520" y="2286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7329454B-9275-4E86-B32E-91C0DB62AA7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89520" y="4572000"/>
            <a:ext cx="4599432" cy="2286000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Footer Placeholder 2">
            <a:extLst>
              <a:ext uri="{FF2B5EF4-FFF2-40B4-BE49-F238E27FC236}">
                <a16:creationId xmlns:a16="http://schemas.microsoft.com/office/drawing/2014/main" id="{21E9E1BF-D594-4F96-8DBE-5A8DD51D3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>
            <a:lvl1pPr algn="l">
              <a:defRPr>
                <a:solidFill>
                  <a:schemeClr val="tx2">
                    <a:alpha val="60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1" name="Slide Number Placeholder 3">
            <a:extLst>
              <a:ext uri="{FF2B5EF4-FFF2-40B4-BE49-F238E27FC236}">
                <a16:creationId xmlns:a16="http://schemas.microsoft.com/office/drawing/2014/main" id="{C30FDEF8-F3F3-42D5-9EE1-EDDF18B35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79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E04ED02-B678-4D1E-BEDA-7E28F9038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7" y="9278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E2C5A2-B8B2-47C5-8E1B-3A97E2C9B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25" y="9278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FD8455-A2E1-40B3-B6C4-36070AF58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6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Freeform: Shape 7">
            <a:extLst>
              <a:ext uri="{FF2B5EF4-FFF2-40B4-BE49-F238E27FC236}">
                <a16:creationId xmlns:a16="http://schemas.microsoft.com/office/drawing/2014/main" id="{0F53BE70-C6B1-407C-9333-7251BDC77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186" y="9279"/>
            <a:ext cx="5770017" cy="2411171"/>
          </a:xfrm>
          <a:custGeom>
            <a:avLst/>
            <a:gdLst>
              <a:gd name="connsiteX0" fmla="*/ 0 w 5770017"/>
              <a:gd name="connsiteY0" fmla="*/ 0 h 2411171"/>
              <a:gd name="connsiteX1" fmla="*/ 5770017 w 5770017"/>
              <a:gd name="connsiteY1" fmla="*/ 0 h 2411171"/>
              <a:gd name="connsiteX2" fmla="*/ 5715824 w 5770017"/>
              <a:gd name="connsiteY2" fmla="*/ 124746 h 2411171"/>
              <a:gd name="connsiteX3" fmla="*/ 4925072 w 5770017"/>
              <a:gd name="connsiteY3" fmla="*/ 1254414 h 2411171"/>
              <a:gd name="connsiteX4" fmla="*/ 125602 w 5770017"/>
              <a:gd name="connsiteY4" fmla="*/ 1864423 h 2411171"/>
              <a:gd name="connsiteX5" fmla="*/ 0 w 5770017"/>
              <a:gd name="connsiteY5" fmla="*/ 1785927 h 2411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70017" h="2411171">
                <a:moveTo>
                  <a:pt x="0" y="0"/>
                </a:moveTo>
                <a:lnTo>
                  <a:pt x="5770017" y="0"/>
                </a:lnTo>
                <a:lnTo>
                  <a:pt x="5715824" y="124746"/>
                </a:lnTo>
                <a:cubicBezTo>
                  <a:pt x="5526044" y="533784"/>
                  <a:pt x="5262460" y="917027"/>
                  <a:pt x="4925072" y="1254414"/>
                </a:cubicBezTo>
                <a:cubicBezTo>
                  <a:pt x="3623720" y="2555767"/>
                  <a:pt x="1640148" y="2759102"/>
                  <a:pt x="125602" y="1864423"/>
                </a:cubicBezTo>
                <a:lnTo>
                  <a:pt x="0" y="1785927"/>
                </a:lnTo>
                <a:close/>
              </a:path>
            </a:pathLst>
          </a:custGeom>
          <a:gradFill>
            <a:gsLst>
              <a:gs pos="0">
                <a:schemeClr val="accent2">
                  <a:alpha val="2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2700000" scaled="1"/>
          </a:gradFill>
          <a:ln>
            <a:noFill/>
          </a:ln>
          <a:effectLst>
            <a:softEdge rad="520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05864DDE-75C0-4BE6-93FF-A960706AD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BC3FA0F-EAE5-4DCE-ACFF-9AD00ED39F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7477" y="1131641"/>
            <a:ext cx="5322618" cy="23876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>
                <a:solidFill>
                  <a:srgbClr val="FFFFFF"/>
                </a:solidFill>
                <a:ea typeface="Cambria" panose="02040503050406030204" pitchFamily="18" charset="0"/>
                <a:cs typeface="Sabon Next LT" panose="020B0502040204020203" pitchFamily="2" charset="0"/>
              </a:rPr>
              <a:t>Click to edit Master title style</a:t>
            </a:r>
            <a:endParaRPr lang="en-US" dirty="0">
              <a:solidFill>
                <a:srgbClr val="FFFFFF"/>
              </a:solidFill>
              <a:ea typeface="Cambria" panose="02040503050406030204" pitchFamily="18" charset="0"/>
              <a:cs typeface="Sabon Next LT" panose="020B0502040204020203" pitchFamily="2" charset="0"/>
            </a:endParaRP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1FA5E0E-BEE1-4976-92B1-61EF64E343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84848" y="905256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03379FE8-A6CE-4F5A-BE1A-B2267589BE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84848" y="3520440"/>
            <a:ext cx="4581144" cy="245059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D090CA-24E8-46A7-889A-A4FDD00A33E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3600450"/>
            <a:ext cx="5322888" cy="24511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093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Chart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859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3B5BF0-238D-481F-A15B-206D1E2FE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578E43B-8F1B-4CBD-B09E-5AD9A247E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737C17C2-E2A6-4219-AE02-C8EAF943C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389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AE7BC3CE-3806-41F3-B4F6-EBB2C3E9EA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" y="484632"/>
            <a:ext cx="12179808" cy="5907024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DC036CF-E92D-4E80-8E6B-1B06EDDFD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1016"/>
            <a:ext cx="4800600" cy="3749040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DCFE1B-ABA2-4B11-B7DE-02CE383D6F2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4835779"/>
            <a:ext cx="4800600" cy="1066800"/>
          </a:xfrm>
        </p:spPr>
        <p:txBody>
          <a:bodyPr>
            <a:normAutofit/>
          </a:bodyPr>
          <a:lstStyle>
            <a:lvl1pPr marL="228600" indent="0">
              <a:buNone/>
              <a:defRPr sz="2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0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B84B862-7F1F-4B98-B437-936D8A73A9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664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C76B23B2-3605-4292-9F96-F34651B689A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38728" y="2240280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AB1E9EC3-2FB6-4E1C-8211-306450FDEE7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45936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4">
            <a:extLst>
              <a:ext uri="{FF2B5EF4-FFF2-40B4-BE49-F238E27FC236}">
                <a16:creationId xmlns:a16="http://schemas.microsoft.com/office/drawing/2014/main" id="{F3628146-045F-4FBC-A365-3D1D4B3DA6E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53144" y="2267712"/>
            <a:ext cx="2286000" cy="232257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B50972B-CA23-4B92-987F-EE48ECCFF5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1363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8DE19225-DA72-4A39-8CFD-695BFBB93E6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0664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E66A7C97-DBB6-4333-B12F-E26C38E69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8728" y="4733925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041FA0B5-660E-478A-AF8A-196DBD6AE43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8029" y="53431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77C92085-3D01-44E4-BA12-E39F1EA0ACE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67973" y="4733544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35DA97BC-7224-440A-A227-8F4A101804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67274" y="5342763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8" name="Text Placeholder 19">
            <a:extLst>
              <a:ext uri="{FF2B5EF4-FFF2-40B4-BE49-F238E27FC236}">
                <a16:creationId xmlns:a16="http://schemas.microsoft.com/office/drawing/2014/main" id="{C236524B-4724-42FA-A2B2-33566478FD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39" y="4737100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2000">
                <a:latin typeface="+mj-lt"/>
              </a:defRPr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F7DE4ED-8F4D-465C-86B4-2372AE291F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63940" y="5346319"/>
            <a:ext cx="2286000" cy="590550"/>
          </a:xfrm>
        </p:spPr>
        <p:txBody>
          <a:bodyPr>
            <a:normAutofit/>
          </a:bodyPr>
          <a:lstStyle>
            <a:lvl1pPr marL="0" indent="0" defTabSz="0">
              <a:spcBef>
                <a:spcPts val="0"/>
              </a:spcBef>
              <a:buNone/>
              <a:defRPr sz="1600"/>
            </a:lvl1pPr>
            <a:lvl2pPr marL="571500" indent="0">
              <a:buNone/>
              <a:defRPr/>
            </a:lvl2pPr>
            <a:lvl3pPr marL="1028700" indent="0">
              <a:buNone/>
              <a:defRPr/>
            </a:lvl3pPr>
            <a:lvl4pPr marL="1428750" indent="0">
              <a:buNone/>
              <a:defRPr/>
            </a:lvl4pPr>
            <a:lvl5pPr marL="188595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55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(comparison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5157787" cy="3446463"/>
          </a:xfrm>
          <a:solidFill>
            <a:schemeClr val="bg1"/>
          </a:solidFill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60320"/>
            <a:ext cx="5183188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8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8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8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8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51C83D0-CBAB-4E41-89AB-89FF36D38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02BB0-D231-4195-8083-264C01DF99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2011680"/>
            <a:ext cx="51577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B2A70FA-99E0-466C-AC57-33C48353B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69027" y="2011680"/>
            <a:ext cx="5183187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5747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1051560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04360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04360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22881CE-A366-4A3A-AE00-9B14BEFE4A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68934" y="2011680"/>
            <a:ext cx="3383280" cy="530352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3CF16E98-73C9-47B5-B88B-9120BEB9F0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934" y="2560320"/>
            <a:ext cx="3383280" cy="3446463"/>
          </a:xfrm>
        </p:spPr>
        <p:txBody>
          <a:bodyPr>
            <a:normAutofit/>
          </a:bodyPr>
          <a:lstStyle>
            <a:lvl1pPr>
              <a:buClr>
                <a:schemeClr val="tx2">
                  <a:lumMod val="50000"/>
                  <a:lumOff val="50000"/>
                </a:schemeClr>
              </a:buClr>
              <a:defRPr sz="1400"/>
            </a:lvl1pPr>
            <a:lvl2pPr>
              <a:buClr>
                <a:schemeClr val="tx2">
                  <a:lumMod val="50000"/>
                  <a:lumOff val="50000"/>
                </a:schemeClr>
              </a:buClr>
              <a:defRPr sz="1400"/>
            </a:lvl2pPr>
            <a:lvl3pPr>
              <a:buClr>
                <a:schemeClr val="tx2">
                  <a:lumMod val="50000"/>
                  <a:lumOff val="50000"/>
                </a:schemeClr>
              </a:buClr>
              <a:defRPr sz="1400"/>
            </a:lvl3pPr>
            <a:lvl4pPr>
              <a:buClr>
                <a:schemeClr val="tx2">
                  <a:lumMod val="50000"/>
                  <a:lumOff val="50000"/>
                </a:schemeClr>
              </a:buClr>
              <a:defRPr sz="1400"/>
            </a:lvl4pPr>
            <a:lvl5pPr>
              <a:buClr>
                <a:schemeClr val="tx2">
                  <a:lumMod val="50000"/>
                  <a:lumOff val="50000"/>
                </a:schemeClr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7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73294AE-7408-47DB-898D-41F8C069B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57251"/>
            <a:ext cx="6156051" cy="2076450"/>
          </a:xfrm>
        </p:spPr>
        <p:txBody>
          <a:bodyPr anchor="b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973052A-4118-4E04-81F8-A44EC172F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7" y="3190875"/>
            <a:ext cx="6156052" cy="298608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</a:lstStyle>
          <a:p>
            <a:pPr marL="228600" lvl="0" indent="-228600"/>
            <a:r>
              <a:rPr lang="en-US" sz="20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8988D1E1-6064-4D6A-9EB1-578E20A2A0ED}"/>
              </a:ext>
            </a:extLst>
          </p:cNvPr>
          <p:cNvSpPr txBox="1">
            <a:spLocks/>
          </p:cNvSpPr>
          <p:nvPr userDrawn="1"/>
        </p:nvSpPr>
        <p:spPr>
          <a:xfrm>
            <a:off x="841248" y="6429375"/>
            <a:ext cx="26467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B23B9F-B223-42FC-B961-B8BFC75D2259}" type="datetime1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4/7/2026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BD47C5CB-0317-4DC6-A76F-38A5BB1FD1C2}"/>
              </a:ext>
            </a:extLst>
          </p:cNvPr>
          <p:cNvSpPr txBox="1">
            <a:spLocks/>
          </p:cNvSpPr>
          <p:nvPr userDrawn="1"/>
        </p:nvSpPr>
        <p:spPr>
          <a:xfrm>
            <a:off x="4044696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2">
                    <a:alpha val="60000"/>
                  </a:schemeClr>
                </a:solidFill>
              </a:rPr>
              <a:t>Sample footer text</a:t>
            </a:r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CCF6E15-0BE7-453B-BBD4-B379C390AD22}"/>
              </a:ext>
            </a:extLst>
          </p:cNvPr>
          <p:cNvSpPr txBox="1">
            <a:spLocks/>
          </p:cNvSpPr>
          <p:nvPr userDrawn="1"/>
        </p:nvSpPr>
        <p:spPr>
          <a:xfrm>
            <a:off x="8613648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 cap="all" spc="15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44951-7827-47D4-8276-7DDE1FA7D85A}" type="slidenum">
              <a:rPr lang="en-US" smtClean="0">
                <a:solidFill>
                  <a:schemeClr val="tx2">
                    <a:alpha val="60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tx2">
                  <a:alpha val="60000"/>
                </a:schemeClr>
              </a:soli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E092228-4487-4E3A-AEE3-12DC34A06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24928" y="484632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AB20921-6E7F-4BD8-9399-D18CABB64B9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4928" y="3511296"/>
            <a:ext cx="4279392" cy="2862072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30430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22B425-A1C3-4DFE-BF49-1B9F96D46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893769"/>
            <a:ext cx="5992550" cy="2319306"/>
          </a:xfrm>
        </p:spPr>
        <p:txBody>
          <a:bodyPr anchor="t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</a:rPr>
              <a:t>Click to edit Master title style</a:t>
            </a:r>
            <a:endParaRPr lang="en-US" sz="4400" dirty="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AEC60F9-EA79-4A18-B040-024AFB62FD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" y="484632"/>
            <a:ext cx="11210544" cy="3191256"/>
          </a:xfrm>
          <a:solidFill>
            <a:schemeClr val="accent6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B88B7B-A749-40EA-A140-38D1E04EF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9133" y="3893770"/>
            <a:ext cx="4377714" cy="2319306"/>
          </a:xfrm>
        </p:spPr>
        <p:txBody>
          <a:bodyPr anchor="t">
            <a:normAutofit/>
          </a:bodyPr>
          <a:lstStyle>
            <a:lvl1pPr marL="0" indent="0">
              <a:buNone/>
              <a:defRPr sz="2800"/>
            </a:lvl1pPr>
          </a:lstStyle>
          <a:p>
            <a:pPr marL="228600" lvl="0" indent="-228600"/>
            <a:r>
              <a:rPr lang="en-US" sz="1800">
                <a:solidFill>
                  <a:schemeClr val="tx2">
                    <a:alpha val="60000"/>
                  </a:schemeClr>
                </a:solidFill>
              </a:rPr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18489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00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95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87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29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7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813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52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08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3/1/20XX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51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6" r:id="rId2"/>
    <p:sldLayoutId id="2147483699" r:id="rId3"/>
    <p:sldLayoutId id="2147483698" r:id="rId4"/>
    <p:sldLayoutId id="2147483686" r:id="rId5"/>
    <p:sldLayoutId id="2147483700" r:id="rId6"/>
    <p:sldLayoutId id="2147483705" r:id="rId7"/>
    <p:sldLayoutId id="2147483689" r:id="rId8"/>
    <p:sldLayoutId id="2147483704" r:id="rId9"/>
    <p:sldLayoutId id="2147483702" r:id="rId10"/>
    <p:sldLayoutId id="2147483701" r:id="rId11"/>
    <p:sldLayoutId id="2147483703" r:id="rId12"/>
    <p:sldLayoutId id="2147483685" r:id="rId13"/>
    <p:sldLayoutId id="2147483687" r:id="rId14"/>
    <p:sldLayoutId id="2147483688" r:id="rId15"/>
    <p:sldLayoutId id="2147483690" r:id="rId16"/>
    <p:sldLayoutId id="2147483692" r:id="rId17"/>
    <p:sldLayoutId id="2147483693" r:id="rId18"/>
  </p:sldLayoutIdLst>
  <p:hf hdr="0"/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32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9A7C78-91FD-4B88-953D-5A4363761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50" y="1121700"/>
            <a:ext cx="9144000" cy="2387600"/>
          </a:xfrm>
        </p:spPr>
        <p:txBody>
          <a:bodyPr anchor="b" anchorCtr="0"/>
          <a:lstStyle/>
          <a:p>
            <a:r>
              <a:rPr lang="en-US" dirty="0"/>
              <a:t>Loan Approval Prediction using Fairness-Aware Machine Learning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D04BED3-CF2E-4CAD-8CE8-ED3ED12AEB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27175" y="3600450"/>
            <a:ext cx="9144000" cy="2451100"/>
          </a:xfrm>
        </p:spPr>
        <p:txBody>
          <a:bodyPr/>
          <a:lstStyle/>
          <a:p>
            <a:r>
              <a:rPr lang="en-US" dirty="0"/>
              <a:t>-by </a:t>
            </a:r>
            <a:r>
              <a:rPr lang="en-US" dirty="0" err="1"/>
              <a:t>P.Kanishka</a:t>
            </a:r>
            <a:endParaRPr lang="en-US" dirty="0"/>
          </a:p>
          <a:p>
            <a:r>
              <a:rPr lang="en-US" dirty="0"/>
              <a:t>2403A51231</a:t>
            </a:r>
          </a:p>
        </p:txBody>
      </p:sp>
    </p:spTree>
    <p:extLst>
      <p:ext uri="{BB962C8B-B14F-4D97-AF65-F5344CB8AC3E}">
        <p14:creationId xmlns:p14="http://schemas.microsoft.com/office/powerpoint/2010/main" val="703580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57686-487A-4245-814E-58B1C25C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399"/>
            <a:ext cx="5992550" cy="2827422"/>
          </a:xfrm>
        </p:spPr>
        <p:txBody>
          <a:bodyPr/>
          <a:lstStyle/>
          <a:p>
            <a:r>
              <a:rPr lang="en-IN" dirty="0"/>
              <a:t>Problem Statement: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566BB-9632-4FD7-9FFC-FD3C43D39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892" y="2258176"/>
            <a:ext cx="9217890" cy="282742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Banks need to decide whether to approve or reject loan applications.</a:t>
            </a:r>
            <a:b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decision-making can be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biased or inefficient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to:</a:t>
            </a:r>
          </a:p>
          <a:p>
            <a:pPr marL="457200" indent="-457200"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 loan approval using ML models.</a:t>
            </a:r>
          </a:p>
          <a:p>
            <a:pPr marL="457200" indent="-457200"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fair and unbiased decisions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across different groups (like gender)</a:t>
            </a:r>
          </a:p>
          <a:p>
            <a:pPr>
              <a:buClr>
                <a:srgbClr val="201449"/>
              </a:buClr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FFBE36B-5CC8-44EE-801B-6159157B53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FF014D18-B223-4ED4-BCCA-1E4C38285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/>
          <a:p>
            <a:r>
              <a:rPr lang="en-US" dirty="0"/>
              <a:t>SAMPLE FOOTERTEXT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1898C30-E58E-4EC9-8A27-DF1822A98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46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92AFC-CD88-3FDE-B5F4-A43B11E6B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 of the Project: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A810F-2422-0215-F59E-2E89A286F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228600" indent="0">
              <a:buNone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system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predict loan approval based on applicant details.</a:t>
            </a:r>
          </a:p>
          <a:p>
            <a:pPr marL="228600" indent="0">
              <a:buNone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involved: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from loan dataset 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(handling missing values, encoding) 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multiple ML models </a:t>
            </a:r>
          </a:p>
          <a:p>
            <a:pPr marL="342900" indent="-3429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accuracy and fairness </a:t>
            </a:r>
          </a:p>
          <a:p>
            <a:pPr marL="228600" indent="0">
              <a:buNone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balance:</a:t>
            </a:r>
          </a:p>
          <a:p>
            <a:pPr marL="228600" indent="0">
              <a:buNone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28600" indent="0">
              <a:buNone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 bias (fairness-aware system)</a:t>
            </a:r>
            <a:endParaRPr lang="en-US" dirty="0">
              <a:solidFill>
                <a:schemeClr val="tx1">
                  <a:alpha val="7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DE134-1B9C-985E-CAF5-077F5AFF2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1F67D-4981-9135-191E-0B66359D2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6520F-0B27-F991-587A-F0C8DA927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2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3182-22EB-43CF-838B-D35955098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0128"/>
            <a:ext cx="10515600" cy="1325563"/>
          </a:xfrm>
        </p:spPr>
        <p:txBody>
          <a:bodyPr/>
          <a:lstStyle/>
          <a:p>
            <a:r>
              <a:rPr lang="en-IN" dirty="0"/>
              <a:t>Description of Models Used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9BF983-B96B-4610-9F94-9B626A8DFF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267946-87E4-4FCD-85C7-87A978DD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DBD4D7-D985-4FC0-B4DA-EFF28F39E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EC881-EA0E-EDAB-1036-0EAD931C8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928" y="1652184"/>
            <a:ext cx="10515600" cy="4554652"/>
          </a:xfrm>
        </p:spPr>
        <p:txBody>
          <a:bodyPr>
            <a:normAutofit fontScale="55000" lnSpcReduction="20000"/>
          </a:bodyPr>
          <a:lstStyle/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Logistic Regression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interpretable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as a baseline model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Decision Tree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Tree-based model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understand but may overfit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Random Forest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Ensemble of multiple trees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and robustness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Support Vector Machine (SVM)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Finds optimal boundary between classes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well for complex data 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0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5648-EC4F-4D61-9453-4E038C033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dirty="0"/>
              <a:t>Accuracy / Performance Metrics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A3CCFA-9D3B-44D7-8242-579B453172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29375"/>
            <a:ext cx="2743200" cy="365125"/>
          </a:xfrm>
        </p:spPr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1E6AD-E6EE-4A80-8931-5E7F66D2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29375"/>
            <a:ext cx="4114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A18D9-DF9D-45C8-A71D-661F2BD2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9375"/>
            <a:ext cx="2743200" cy="365125"/>
          </a:xfrm>
        </p:spPr>
        <p:txBody>
          <a:bodyPr/>
          <a:lstStyle/>
          <a:p>
            <a:fld id="{28844951-7827-47D4-8276-7DDE1FA7D85A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1241837-140B-5080-FC9D-F4785A638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achieved the highest accuracy (~79.67%)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it the best-performing model.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(~78.86%)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also performed well and is more interpretable.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(~78.05%)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gave strong performance but slightly lower than SVM.</a:t>
            </a: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(~71.54%)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had the lowest accuracy due to overfitting.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2191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57156F-4B99-023C-67A7-9F1E2017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DF5CC-AA8D-B132-6C70-BE8E4E46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688DB-253D-2F84-5E8D-86EC76FF2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CC94F79-AC01-5770-F8F4-D706CB61D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605670"/>
              </p:ext>
            </p:extLst>
          </p:nvPr>
        </p:nvGraphicFramePr>
        <p:xfrm>
          <a:off x="838200" y="1016000"/>
          <a:ext cx="10515600" cy="49229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71877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145085427"/>
                    </a:ext>
                  </a:extLst>
                </a:gridCol>
              </a:tblGrid>
              <a:tr h="98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666906"/>
                  </a:ext>
                </a:extLst>
              </a:tr>
              <a:tr h="98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78.86%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289191"/>
                  </a:ext>
                </a:extLst>
              </a:tr>
              <a:tr h="98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71.54%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2604783"/>
                  </a:ext>
                </a:extLst>
              </a:tr>
              <a:tr h="98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78.05%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421056"/>
                  </a:ext>
                </a:extLst>
              </a:tr>
              <a:tr h="9845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79.67% 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284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7029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9B3270-9089-4EFE-2882-0A1C221E8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C93F7F-5A9A-5678-ABDC-6A1D26AA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9B76EC-6E38-9B8D-0460-76B302CC9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5004C-71C7-89F6-ACFB-5A803403E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93" y="960582"/>
            <a:ext cx="5658014" cy="45357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082FD8-2FF8-161A-6899-4CDF8BC8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662" y="960582"/>
            <a:ext cx="5116945" cy="47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33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5EC34-A35E-C084-6DAE-316C871D4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B2737-778F-A6AD-DEE8-FA5E0E5C3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SVM model performed best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the highest accuracy.</a:t>
            </a:r>
            <a:b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>
                  <a:alpha val="7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Logistic Regression provided good results with better interpretability.</a:t>
            </a:r>
            <a:b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>
                  <a:alpha val="7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Decision Tree showed lower performance due to overfitting.</a:t>
            </a:r>
            <a:b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chemeClr val="tx1">
                  <a:alpha val="7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201449"/>
              </a:buCl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combining </a:t>
            </a:r>
            <a:r>
              <a:rPr lang="en-US" b="1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+ fairness</a:t>
            </a:r>
            <a:r>
              <a:rPr lang="en-US" dirty="0">
                <a:solidFill>
                  <a:schemeClr val="tx1">
                    <a:alpha val="7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system provides reliable predictions.</a:t>
            </a:r>
            <a:endParaRPr lang="en-IN" dirty="0">
              <a:solidFill>
                <a:schemeClr val="tx1">
                  <a:alpha val="7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7C421-5172-88CA-D45C-EA31154C7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311EE-2B01-60C1-EAEA-8C94EB15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684872-7728-934A-7E45-1237C67D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4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3026B-79EC-0B9E-EBE9-0ED691C9D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8436" y="2068945"/>
            <a:ext cx="5052291" cy="2613891"/>
          </a:xfrm>
        </p:spPr>
        <p:txBody>
          <a:bodyPr>
            <a:norm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7CCC8-6DE8-DC60-48C7-BC089ED48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3/1/20XX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EBF4D-AFA2-13DE-9F39-A57B2FA7A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B19D-6089-A665-25EC-A14463A2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637163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Custom 54">
      <a:dk1>
        <a:sysClr val="windowText" lastClr="000000"/>
      </a:dk1>
      <a:lt1>
        <a:sysClr val="window" lastClr="FFFFFF"/>
      </a:lt1>
      <a:dk2>
        <a:srgbClr val="201449"/>
      </a:dk2>
      <a:lt2>
        <a:srgbClr val="EEEEEE"/>
      </a:lt2>
      <a:accent1>
        <a:srgbClr val="F900A0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8477FE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AFE2A1-77F8-441E-9B9F-DD61C354F4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CF4B188-9E41-4609-81DC-EA2587D009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052644-F409-493B-8E91-969D43897F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Luminous design</Template>
  <TotalTime>64</TotalTime>
  <Words>344</Words>
  <Application>Microsoft Office PowerPoint</Application>
  <PresentationFormat>Widescreen</PresentationFormat>
  <Paragraphs>76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Avenir Next LT Pro</vt:lpstr>
      <vt:lpstr>Calibri</vt:lpstr>
      <vt:lpstr>Cambria</vt:lpstr>
      <vt:lpstr>Sabon Next LT</vt:lpstr>
      <vt:lpstr>Times New Roman</vt:lpstr>
      <vt:lpstr>Wingdings</vt:lpstr>
      <vt:lpstr>LuminousVTI</vt:lpstr>
      <vt:lpstr>Loan Approval Prediction using Fairness-Aware Machine Learning</vt:lpstr>
      <vt:lpstr>Problem Statement:</vt:lpstr>
      <vt:lpstr>Explanation of the Project:</vt:lpstr>
      <vt:lpstr>Description of Models Used</vt:lpstr>
      <vt:lpstr>Accuracy / Performance Metrics</vt:lpstr>
      <vt:lpstr>PowerPoint Presentation</vt:lpstr>
      <vt:lpstr>PowerPoint Presentation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Pathi Kanishka</dc:creator>
  <cp:lastModifiedBy>Pathi Kanishka</cp:lastModifiedBy>
  <cp:revision>5</cp:revision>
  <dcterms:created xsi:type="dcterms:W3CDTF">2026-04-05T03:42:29Z</dcterms:created>
  <dcterms:modified xsi:type="dcterms:W3CDTF">2026-04-07T07:41:26Z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